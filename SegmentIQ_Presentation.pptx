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27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206240" cy="4206240"/>
          </a:xfrm>
          <a:prstGeom prst="ellipse">
            <a:avLst/>
          </a:prstGeom>
          <a:solidFill>
            <a:srgbClr val="0A1D3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474720" cy="3474720"/>
          </a:xfrm>
          <a:prstGeom prst="ellipse">
            <a:avLst/>
          </a:prstGeom>
          <a:solidFill>
            <a:srgbClr val="134F4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" y="771388"/>
            <a:ext cx="487192" cy="487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SegmentIQ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 data into customer understanding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segmentation for retail banking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 still segment customers the old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grouping methods weren't built for how fast customer behavior actually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5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periodic reviews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2951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get refreshed monthly or quarterly, not as behavior actually shifts.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9" name="Image 1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45698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649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 on risk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17320" y="371246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high-value account going quiet is often noticed only after it's already gone.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3" name="Image 2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87430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7823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Rigid, one-size rules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17320" y="512978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miss nuanced customers who don't fit a single neat bucket.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STARTED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i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 bank automatically find meaningful customer segments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i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explain them in plain language — without a dashboard full of filters?”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363931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6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20" y="37046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risk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46177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customers drift toward dormant with no early signal.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33832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363931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1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540" y="370469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growth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46177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ready to upgrade never get identified in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33832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363931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6" name="Image 2" descr="/home/claude/icons/mes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860" y="370469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outreach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461772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gets the same message, regardless of behavior.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to the business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a segment stays stale is a week of decisions made on outdated behavior.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6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3692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 among high-value customers goes unaddressed until it's too late to intervene.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286000"/>
            <a:ext cx="640080" cy="64008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1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090" y="23692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trending toward priority status aren't surfaced for premium offers.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41080" y="2286000"/>
            <a:ext cx="640080" cy="64008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6" name="Image 2" descr="/home/claude/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290" y="23692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063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Re-engagement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41080" y="3520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accounts sit untouched instead of receiving timely, targeted outreach.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SegmentIQ: an analytics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assistant, not a dashboard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8346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clicking through filters, a bank analyst uploads customer transaction data and simply asks — in plain English — for the answer they need.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39319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324E"/>
          </a:solidFill>
          <a:ln w="9525">
            <a:solidFill>
              <a:srgbClr val="1B7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“Segment customers into priority, regular, and dormant.”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4681728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324E"/>
          </a:solidFill>
          <a:ln w="9525">
            <a:solidFill>
              <a:srgbClr val="1B7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8172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customers are close to becoming priority?”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5431536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324E"/>
          </a:solidFill>
          <a:ln w="9525">
            <a:solidFill>
              <a:srgbClr val="1B7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43153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were these customers marked dormant?”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0" y="1188720"/>
            <a:ext cx="1463040" cy="146304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3" name="Image 0" descr="/home/claude/icons/mes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35" y="1378915"/>
            <a:ext cx="1082650" cy="1082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966960" y="301752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1" descr="/home/claude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494" y="3172054"/>
            <a:ext cx="879653" cy="87965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052560" y="4480560"/>
            <a:ext cx="1005840" cy="100584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7" name="Image 2" descr="/home/claude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319" y="4611319"/>
            <a:ext cx="744322" cy="7443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take a raw CSV to a business-ready recommendation.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029968"/>
            <a:ext cx="512064" cy="512064"/>
          </a:xfrm>
          <a:prstGeom prst="ellipse">
            <a:avLst/>
          </a:prstGeom>
          <a:solidFill>
            <a:srgbClr val="1B7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5024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71016" y="269748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8" name="Image 0" descr="/home/claude/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26" y="278069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5204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913632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uploads a customer transaction CSV.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42616" y="3703320"/>
            <a:ext cx="146304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9"/>
          <p:cNvSpPr/>
          <p:nvPr/>
        </p:nvSpPr>
        <p:spPr>
          <a:xfrm>
            <a:off x="2798064" y="228600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13" name="Shape 10"/>
          <p:cNvSpPr/>
          <p:nvPr/>
        </p:nvSpPr>
        <p:spPr>
          <a:xfrm>
            <a:off x="3584448" y="2029968"/>
            <a:ext cx="512064" cy="512064"/>
          </a:xfrm>
          <a:prstGeom prst="ellipse">
            <a:avLst/>
          </a:prstGeom>
          <a:solidFill>
            <a:srgbClr val="1B7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84448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520440" y="269748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1" descr="/home/claude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50" y="2780690"/>
            <a:ext cx="473659" cy="4736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07792" y="35204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62656" y="3913632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builds behavioral features per customer.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92040" y="3703320"/>
            <a:ext cx="146304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6"/>
          <p:cNvSpPr/>
          <p:nvPr/>
        </p:nvSpPr>
        <p:spPr>
          <a:xfrm>
            <a:off x="5047488" y="228600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21" name="Shape 17"/>
          <p:cNvSpPr/>
          <p:nvPr/>
        </p:nvSpPr>
        <p:spPr>
          <a:xfrm>
            <a:off x="5833872" y="2029968"/>
            <a:ext cx="512064" cy="512064"/>
          </a:xfrm>
          <a:prstGeom prst="ellipse">
            <a:avLst/>
          </a:prstGeom>
          <a:solidFill>
            <a:srgbClr val="1B7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33872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769864" y="269748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4" name="Image 2" descr="/home/claude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074" y="278069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57216" y="35204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212080" y="3913632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rules or clustering.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141464" y="3703320"/>
            <a:ext cx="146304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8" name="Shape 23"/>
          <p:cNvSpPr/>
          <p:nvPr/>
        </p:nvSpPr>
        <p:spPr>
          <a:xfrm>
            <a:off x="7296912" y="228600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29" name="Shape 24"/>
          <p:cNvSpPr/>
          <p:nvPr/>
        </p:nvSpPr>
        <p:spPr>
          <a:xfrm>
            <a:off x="8083296" y="2029968"/>
            <a:ext cx="512064" cy="512064"/>
          </a:xfrm>
          <a:prstGeom prst="ellipse">
            <a:avLst/>
          </a:prstGeom>
          <a:solidFill>
            <a:srgbClr val="1B7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83296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019288" y="269748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2" name="Image 3" descr="/home/claude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498" y="2780690"/>
            <a:ext cx="473659" cy="47365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06640" y="35204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461504" y="3913632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shows why, not just what.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390888" y="3703320"/>
            <a:ext cx="146304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6" name="Shape 30"/>
          <p:cNvSpPr/>
          <p:nvPr/>
        </p:nvSpPr>
        <p:spPr>
          <a:xfrm>
            <a:off x="9546336" y="2286000"/>
            <a:ext cx="2084832" cy="3200400"/>
          </a:xfrm>
          <a:prstGeom prst="roundRect">
            <a:avLst>
              <a:gd name="adj" fmla="val 3947"/>
            </a:avLst>
          </a:prstGeom>
          <a:solidFill>
            <a:srgbClr val="F4F6F5"/>
          </a:solidFill>
          <a:ln/>
        </p:spPr>
      </p:sp>
      <p:sp>
        <p:nvSpPr>
          <p:cNvPr id="37" name="Shape 31"/>
          <p:cNvSpPr/>
          <p:nvPr/>
        </p:nvSpPr>
        <p:spPr>
          <a:xfrm>
            <a:off x="10332720" y="2029968"/>
            <a:ext cx="512064" cy="512064"/>
          </a:xfrm>
          <a:prstGeom prst="ellipse">
            <a:avLst/>
          </a:prstGeom>
          <a:solidFill>
            <a:srgbClr val="1B7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332720" y="2029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0268712" y="269748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40" name="Image 4" descr="/home/claude/icons/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922" y="2780690"/>
            <a:ext cx="473659" cy="473659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56064" y="35204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9710928" y="3913632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next best action per segment.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a layered, agentic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agent_core.py plans the workflow; it doesn't just answer, it decides what to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91640" y="20116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5"/>
          </a:solidFill>
          <a:ln w="15875">
            <a:solidFill>
              <a:srgbClr val="0F2A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130552"/>
            <a:ext cx="128016" cy="512064"/>
          </a:xfrm>
          <a:prstGeom prst="roundRect">
            <a:avLst>
              <a:gd name="adj" fmla="val 21429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0665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 + FastAPI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40680" y="20665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chat, and a reusable backend endpoint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761488"/>
            <a:ext cx="182880" cy="146304"/>
          </a:xfrm>
          <a:prstGeom prst="downArrow">
            <a:avLst/>
          </a:prstGeom>
          <a:solidFill>
            <a:srgbClr val="C7CDCC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29077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5"/>
          </a:solidFill>
          <a:ln w="15875">
            <a:solidFill>
              <a:srgbClr val="1B7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026664"/>
            <a:ext cx="128016" cy="512064"/>
          </a:xfrm>
          <a:prstGeom prst="roundRect">
            <a:avLst>
              <a:gd name="adj" fmla="val 21429"/>
            </a:avLst>
          </a:prstGeom>
          <a:solidFill>
            <a:srgbClr val="1B7A6B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96265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40680" y="296265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the question and routes to the right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657600"/>
            <a:ext cx="182880" cy="146304"/>
          </a:xfrm>
          <a:prstGeom prst="downArrow">
            <a:avLst/>
          </a:prstGeom>
          <a:solidFill>
            <a:srgbClr val="C7CDCC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1640" y="38039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5"/>
          </a:solidFill>
          <a:ln w="15875">
            <a:solidFill>
              <a:srgbClr val="1B7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922776"/>
            <a:ext cx="128016" cy="512064"/>
          </a:xfrm>
          <a:prstGeom prst="roundRect">
            <a:avLst>
              <a:gd name="adj" fmla="val 21429"/>
            </a:avLst>
          </a:prstGeom>
          <a:solidFill>
            <a:srgbClr val="1B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38587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specialized tools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40680" y="3858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segmentation · EDA · explainability · recommendation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4553712"/>
            <a:ext cx="182880" cy="146304"/>
          </a:xfrm>
          <a:prstGeom prst="downArrow">
            <a:avLst/>
          </a:prstGeom>
          <a:solidFill>
            <a:srgbClr val="C7CDC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1640" y="47000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5"/>
          </a:solidFill>
          <a:ln w="15875">
            <a:solidFill>
              <a:srgbClr val="0F2A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4818888"/>
            <a:ext cx="128016" cy="512064"/>
          </a:xfrm>
          <a:prstGeom prst="roundRect">
            <a:avLst>
              <a:gd name="adj" fmla="val 21429"/>
            </a:avLst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4754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pipeline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40680" y="4754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column mapping, feature and segment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5449824"/>
            <a:ext cx="182880" cy="146304"/>
          </a:xfrm>
          <a:prstGeom prst="downArrow">
            <a:avLst/>
          </a:prstGeom>
          <a:solidFill>
            <a:srgbClr val="C7CDCC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1640" y="5596128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5"/>
          </a:solidFill>
          <a:ln w="15875">
            <a:solidFill>
              <a:srgbClr val="5B6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5715000"/>
            <a:ext cx="128016" cy="512064"/>
          </a:xfrm>
          <a:prstGeom prst="roundRect">
            <a:avLst>
              <a:gd name="adj" fmla="val 21429"/>
            </a:avLst>
          </a:prstGeom>
          <a:solidFill>
            <a:srgbClr val="5B6B70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56509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data store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40680" y="56509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engineered features, segment output, exports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Behavior, not just balance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are aggregated per customer into features that actually describe how they bank.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6" name="Image 0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242453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balance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1031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9432" y="23591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0" name="Image 1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12" y="2424532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monthly balance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21031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94192" y="23591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4" name="Image 2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72" y="2424532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frequency per month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8" name="Image 3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4024732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4526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transaction amount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400" y="3703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99432" y="39593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22" name="Image 4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12" y="4024732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9432" y="4526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since last transaction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38160" y="370332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94192" y="3959352"/>
            <a:ext cx="502920" cy="50292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26" name="Image 5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572" y="4024732"/>
            <a:ext cx="372161" cy="37216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94192" y="4526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transaction count and amount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48640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signals feed both the rule-based and clustering segmentation paths.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segment, one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can lean on transparent rules, or let clustering surface patterns rules would miss.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23597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segmentation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balance, high frequency, recent activity
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stable behavior
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activity or long inactivity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51206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thresholds an analyst can read and trust at a glance.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6F5"/>
          </a:solidFill>
          <a:ln w="15875">
            <a:solidFill>
              <a:srgbClr val="1B7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2" name="Image 1" descr="/home/claude/icons/gitme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381" y="235970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30632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 are grouped by similarity rather than fixed cutoffs, so the system can discover patterns a human wouldn't think to encode as a rule.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51206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machine-learning-based, and complementary to the rules above.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label — a reason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banking, "this customer is dormant" isn't enough. Trust means showing the why.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/home/claud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23692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trace panel surfaces the exact tools and steps the agent followed — which features drove a customer into their segment.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86000"/>
            <a:ext cx="640080" cy="640080"/>
          </a:xfrm>
          <a:prstGeom prst="ellipse">
            <a:avLst/>
          </a:prstGeom>
          <a:solidFill>
            <a:srgbClr val="1B7A6B"/>
          </a:solidFill>
          <a:ln/>
        </p:spPr>
      </p:sp>
      <p:pic>
        <p:nvPicPr>
          <p:cNvPr id="11" name="Image 1" descr="/home/claude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0" y="23692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566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segment is understood, the system suggests the next action — re-engagement outreach, a premium offer, or nothing at all.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pairing is what turns SegmentIQ from a classifier into a decision-support tool.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 for a bank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behavior-driven segmentation changes day-to-day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33472" cy="4160520"/>
          </a:xfrm>
          <a:prstGeom prst="roundRect">
            <a:avLst>
              <a:gd name="adj" fmla="val 3472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23139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earlier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high-value customers drifting toward dormant before they leave.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965960"/>
            <a:ext cx="2633472" cy="4160520"/>
          </a:xfrm>
          <a:prstGeom prst="roundRect">
            <a:avLst>
              <a:gd name="adj" fmla="val 3472"/>
            </a:avLst>
          </a:prstGeom>
          <a:solidFill>
            <a:srgbClr val="F4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2240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1" descr="/home/claude/icons/user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861" y="23139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communication and offers to actual behavior, not guesswork.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633472" cy="4160520"/>
          </a:xfrm>
          <a:prstGeom prst="roundRect">
            <a:avLst>
              <a:gd name="adj" fmla="val 3472"/>
            </a:avLst>
          </a:prstGeom>
          <a:solidFill>
            <a:srgbClr val="F4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5080" y="2240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2" descr="/home/claude/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781" y="23139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dormant customers with campaigns built for their specific pattern.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15400" y="1965960"/>
            <a:ext cx="2633472" cy="4160520"/>
          </a:xfrm>
          <a:prstGeom prst="roundRect">
            <a:avLst>
              <a:gd name="adj" fmla="val 3472"/>
            </a:avLst>
          </a:prstGeom>
          <a:solidFill>
            <a:srgbClr val="F4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0" y="2240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1" name="Image 3" descr="/home/claude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701" y="231398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faster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review cycles with a conversational, on-demand analysis.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0A1D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134F45"/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1887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345" y="12957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33172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</a:t>
            </a:r>
            <a:endParaRPr lang="en-US" sz="3200" dirty="0"/>
          </a:p>
          <a:p>
            <a:pPr marL="0" indent="0" algn="ctr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understood customers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0876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SegmentIQ combines an agentic architecture, behavior-based analysis, and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into one conversational banking analytics platform.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794</Words>
  <Application>Microsoft Office PowerPoint</Application>
  <PresentationFormat>Widescreen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Naveen Raj</cp:lastModifiedBy>
  <cp:revision>3</cp:revision>
  <dcterms:created xsi:type="dcterms:W3CDTF">2026-07-26T16:41:39Z</dcterms:created>
  <dcterms:modified xsi:type="dcterms:W3CDTF">2026-07-26T16:44:50Z</dcterms:modified>
</cp:coreProperties>
</file>